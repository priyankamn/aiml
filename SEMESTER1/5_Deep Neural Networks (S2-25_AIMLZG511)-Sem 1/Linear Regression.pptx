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93" r:id="rId4"/>
    <p:sldId id="449" r:id="rId5"/>
    <p:sldId id="294" r:id="rId6"/>
    <p:sldId id="295" r:id="rId7"/>
    <p:sldId id="296" r:id="rId8"/>
    <p:sldId id="416" r:id="rId9"/>
    <p:sldId id="297" r:id="rId10"/>
    <p:sldId id="414" r:id="rId11"/>
    <p:sldId id="447" r:id="rId12"/>
    <p:sldId id="448" r:id="rId13"/>
    <p:sldId id="45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60"/>
    <p:restoredTop sz="96395"/>
  </p:normalViewPr>
  <p:slideViewPr>
    <p:cSldViewPr snapToGrid="0" snapToObjects="1">
      <p:cViewPr>
        <p:scale>
          <a:sx n="60" d="100"/>
          <a:sy n="60" d="100"/>
        </p:scale>
        <p:origin x="1288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2BF01-B96F-5148-A33A-51B7F90D8C0C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FD0B9-A0EE-F641-A33D-630DB9A85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AE99-F881-9BB4-C26A-582451268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D0885-A65D-1194-8204-FCCEDDC3F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7AF08-DEE1-FA29-0F14-A5EA566C2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22334-131C-15C2-F608-0EF37FC0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04DD4-D586-F327-D130-28F44A05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6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57E1-27EE-D568-752B-A5CDAEE0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7F217-892D-3DF7-DEFD-74F880838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8BEC7-8B61-A7CC-65E4-00512A9E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338E6-9544-2F22-4477-0282F7AC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928B0-D8F2-48B7-40E0-3F3BC45D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1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0263-24DB-7001-C5FA-25A0302E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345B1-8BE5-292E-DD9C-8E09379BF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9EA0C-8035-0957-EDD5-67312B955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3BF43-CC2F-C509-5AE0-2CA5EBEA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733AB-1C94-6D8D-C81F-BF81D59A0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6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0324-82B1-1D0B-3872-3169E6B3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5C1D1-2345-325B-345B-BE68B1BE8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A334F-9B16-4291-B8FF-A3E165B94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166D7-A812-FC36-86EE-ED2FBB161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7C514-8FBB-69A6-85FA-16418E5D6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C3736-9057-EFBE-85F9-21E54F92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0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2FD-0BC5-E056-F30B-4B695B5FD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320CE-7B3E-77C3-CCF2-D0BF572D3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E39C1-0E62-124D-0DCD-A827BF18C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C227E-E0BE-8E12-B79C-9000201BA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6CB40-6902-1DF8-0ABA-4023AAD2B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72CDC-F998-3785-A736-DD3213B8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6F0762-99BC-1342-4E32-359217DC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AF973-2D0A-E0D0-9E95-462A5EFE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87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59EB-F1B9-5D21-12F7-94978700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3A533-D9B0-5531-2852-AE4A247A8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6578F-FE68-2CED-13C2-8CF4CA94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67696-7E58-34BD-57D6-6A35F397F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5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0CEAD-270C-4646-437E-54BF3D5A9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8255E-DD79-8F6D-9D82-A456EC20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93527-432F-08E3-3103-3E7B6C5B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42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3BAAA-F575-B0A4-C70D-9A63AC56E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21AFC-CE8C-6797-A1AD-553058446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7E92A-F839-E199-E086-FEBF7F5C5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31D69-261D-D72D-319F-91C6C72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6A19C-1BBD-6A0A-55FB-B326BDC1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5A256-12C3-B6F2-D29A-F8CC04FD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8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0F7B-B88A-C340-1F64-01C9A3538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37375-B0FC-780B-9B05-9F10E2205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C92E4-320D-8B39-9560-E2C9D7FC0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AA080-E149-01EC-233E-4A08F46C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71254-1550-6B09-D7D1-E2D2BB16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496A2-CAA6-CE0C-A38F-AFBF86DD4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6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1A47-6376-FF84-122C-460D5FC5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55BA25-AE58-3F54-A672-72A745778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515C9-7C46-E76C-FA15-A6E1F5F5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0072F-AD0C-A95C-C6FE-2719D00D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FA24-B35B-D260-07F5-69A6D775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2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023BD-C96E-4084-8805-8DBD212AA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E170A-ED59-1D0D-2B01-86E4AD438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B709C-E9B7-6C89-9B4A-AF441BC3E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1A84C-DE3E-05EB-09F7-7E28EEDE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5C8CE-A46B-7ED1-E280-D963C5F5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56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BA6F66-C248-B190-CDBB-18F0AB45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D759D-3D1E-C1A6-75DF-E34D76F28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50AC5-6027-A221-A15A-8876557086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37AB8-A3ED-B94A-B613-A7344386565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0FEE3-071B-4E61-0253-C7AF8B3B2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DDA00-0CC9-BD6F-BDC4-0F69A9C06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B8CAE-D8EA-764A-AD7E-3D1449F37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9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target-crosshair-bullet-openings-335029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64D82-6A64-7E4B-59A8-1301C053A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9284" y="1"/>
            <a:ext cx="6222715" cy="6858000"/>
          </a:xfrm>
          <a:solidFill>
            <a:schemeClr val="bg2"/>
          </a:solidFill>
          <a:ln>
            <a:solidFill>
              <a:srgbClr val="7030A0"/>
            </a:solidFill>
          </a:ln>
        </p:spPr>
        <p:txBody>
          <a:bodyPr>
            <a:normAutofit fontScale="90000"/>
          </a:bodyPr>
          <a:lstStyle/>
          <a:p>
            <a:pPr lvl="0" fontAlgn="base">
              <a:lnSpc>
                <a:spcPct val="100000"/>
              </a:lnSpc>
              <a:spcAft>
                <a:spcPct val="0"/>
              </a:spcAft>
            </a:pPr>
            <a:br>
              <a:rPr lang="en-US" sz="1800" b="1" dirty="0"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1800" b="1" dirty="0"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1800" b="1" dirty="0"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1800" b="1" dirty="0"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1800" b="1" dirty="0"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1800" b="1" dirty="0"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latin typeface="Bookman Old Style" panose="02050604050505020204" pitchFamily="18" charset="0"/>
                <a:cs typeface="Times New Roman" pitchFamily="18" charset="0"/>
              </a:rPr>
            </a:br>
            <a:r>
              <a:rPr lang="en-US" sz="2700" b="1" dirty="0">
                <a:latin typeface="Bookman Old Style" panose="02050604050505020204" pitchFamily="18" charset="0"/>
                <a:cs typeface="Times New Roman" pitchFamily="18" charset="0"/>
              </a:rPr>
              <a:t>Webinar-01 </a:t>
            </a:r>
            <a:br>
              <a:rPr lang="en-US" sz="2700" b="1" dirty="0"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</a:br>
            <a:b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</a:br>
            <a:r>
              <a:rPr lang="en-IN" sz="4000" b="1" dirty="0"/>
              <a:t>Logic to Learning: Understanding Gates and Regression</a:t>
            </a:r>
            <a:b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</a:br>
            <a:r>
              <a:rPr lang="en-US" sz="27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itchFamily="18" charset="0"/>
              </a:rPr>
              <a:t> </a:t>
            </a:r>
            <a:br>
              <a:rPr lang="en-US" sz="1800" b="1" dirty="0">
                <a:solidFill>
                  <a:schemeClr val="bg1"/>
                </a:solidFill>
                <a:highlight>
                  <a:srgbClr val="FFFF00"/>
                </a:highlight>
                <a:latin typeface="Bookman Old Style" panose="02050604050505020204" pitchFamily="18" charset="0"/>
                <a:cs typeface="Times New Roman" pitchFamily="18" charset="0"/>
              </a:rPr>
            </a:br>
            <a:r>
              <a:rPr kumimoji="0" 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Times New Roman" pitchFamily="18" charset="0"/>
              </a:rPr>
              <a:t>Presented</a:t>
            </a:r>
            <a:r>
              <a:rPr kumimoji="0" lang="en-US" sz="1800" b="1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Times New Roman" pitchFamily="18" charset="0"/>
              </a:rPr>
              <a:t> by </a:t>
            </a:r>
            <a:br>
              <a:rPr kumimoji="0" lang="en-US" sz="1800" b="1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Times New Roman" pitchFamily="18" charset="0"/>
              </a:rPr>
            </a:br>
            <a:b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Times New Roman" pitchFamily="18" charset="0"/>
              </a:rPr>
            </a:b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itchFamily="18" charset="0"/>
                <a:cs typeface="Times New Roman" pitchFamily="18" charset="0"/>
              </a:rPr>
              <a:t>DR. GOURAV KALRA AND MR ROHIT SRIRAM</a:t>
            </a:r>
            <a:br>
              <a:rPr lang="en-US" sz="1800" b="1" dirty="0">
                <a:latin typeface="Bookman Old Style" panose="02050604050505020204" pitchFamily="18" charset="0"/>
                <a:ea typeface="Times New Roman" pitchFamily="18" charset="0"/>
                <a:cs typeface="Times New Roman" pitchFamily="18" charset="0"/>
              </a:rPr>
            </a:br>
            <a:br>
              <a:rPr lang="en-US" sz="1800" b="1" dirty="0">
                <a:solidFill>
                  <a:schemeClr val="bg1"/>
                </a:solidFill>
                <a:highlight>
                  <a:srgbClr val="FFFF00"/>
                </a:highlight>
                <a:latin typeface="Bookman Old Style" panose="02050604050505020204" pitchFamily="18" charset="0"/>
                <a:cs typeface="Times New Roman" pitchFamily="18" charset="0"/>
              </a:rPr>
            </a:br>
            <a:endParaRPr lang="en-US" sz="1800" dirty="0">
              <a:solidFill>
                <a:schemeClr val="bg1"/>
              </a:solidFill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0" name="Picture 2" descr="BITS Pilani - Wikipedia">
            <a:extLst>
              <a:ext uri="{FF2B5EF4-FFF2-40B4-BE49-F238E27FC236}">
                <a16:creationId xmlns:a16="http://schemas.microsoft.com/office/drawing/2014/main" id="{E2EA8713-7255-4A60-26DE-39A3AAD89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178" y="1136074"/>
            <a:ext cx="2147454" cy="214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167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1158" y="1"/>
            <a:ext cx="8229600" cy="981075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                    CONTENTS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0922" y="1000108"/>
            <a:ext cx="9621078" cy="5857891"/>
          </a:xfrm>
          <a:solidFill>
            <a:srgbClr val="7030A0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What Regression Really Does</a:t>
            </a:r>
          </a:p>
          <a:p>
            <a:r>
              <a:rPr lang="en-IN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Why Regression Is Important</a:t>
            </a:r>
          </a:p>
          <a:p>
            <a:r>
              <a:rPr lang="en-IN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Types of Regression</a:t>
            </a:r>
          </a:p>
          <a:p>
            <a:r>
              <a:rPr lang="en-IN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Regression Equation (Core Concept)</a:t>
            </a:r>
          </a:p>
          <a:p>
            <a:r>
              <a:rPr lang="en-IN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Assumptions of Linear Regression</a:t>
            </a:r>
          </a:p>
          <a:p>
            <a:r>
              <a:rPr lang="en-IN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How regression Learn</a:t>
            </a:r>
          </a:p>
          <a:p>
            <a:r>
              <a:rPr lang="en-IN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Model Evaluation Metrics</a:t>
            </a:r>
          </a:p>
          <a:p>
            <a:r>
              <a:rPr lang="en-IN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Limitations of Regression</a:t>
            </a:r>
          </a:p>
          <a:p>
            <a:r>
              <a:rPr lang="en-IN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Regression vs Other ML </a:t>
            </a:r>
            <a:r>
              <a:rPr lang="en-IN" dirty="0">
                <a:solidFill>
                  <a:schemeClr val="bg1"/>
                </a:solidFill>
              </a:rPr>
              <a:t>Models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45" name="Picture 1" descr="C:\Documents and Settings\user\Desktop\download (2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42000" y="1000107"/>
            <a:ext cx="2850000" cy="5123601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6AFBD1-F294-3BC4-6B44-8AA8CE663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How Regression “Learns”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981EE-E3EC-211F-06E8-56161CB7B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How Regression “Learns”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68E078-74AE-3312-933B-656AC5454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How Regression “Learns”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88BB2-79AA-7C64-F35A-FC90B9040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How Regression “Learns”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07AF-C543-623B-C950-61624790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09" y="365125"/>
            <a:ext cx="11901055" cy="1325563"/>
          </a:xfrm>
          <a:solidFill>
            <a:srgbClr val="7030A0"/>
          </a:solidFill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What Regression Really Does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20BDBD8-7068-53C9-2A1A-BF5157AD21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solidFill>
            <a:srgbClr val="7030A0"/>
          </a:solidFill>
        </p:spPr>
        <p:txBody>
          <a:bodyPr>
            <a:normAutofit/>
          </a:bodyPr>
          <a:lstStyle/>
          <a:p>
            <a:pPr lvl="0"/>
            <a:r>
              <a:rPr lang="en-IN" sz="4000" dirty="0">
                <a:solidFill>
                  <a:schemeClr val="bg1"/>
                </a:solidFill>
              </a:rPr>
              <a:t>Regression </a:t>
            </a:r>
            <a:r>
              <a:rPr lang="en-IN" sz="4000" b="1" dirty="0">
                <a:solidFill>
                  <a:schemeClr val="bg1"/>
                </a:solidFill>
              </a:rPr>
              <a:t>models the relationship</a:t>
            </a:r>
            <a:r>
              <a:rPr lang="en-IN" sz="4000" dirty="0">
                <a:solidFill>
                  <a:schemeClr val="bg1"/>
                </a:solidFill>
              </a:rPr>
              <a:t> between dependent and independent variables</a:t>
            </a:r>
          </a:p>
          <a:p>
            <a:pPr lvl="0"/>
            <a:r>
              <a:rPr lang="en-IN" sz="4000" dirty="0">
                <a:solidFill>
                  <a:schemeClr val="bg1"/>
                </a:solidFill>
              </a:rPr>
              <a:t>It explains </a:t>
            </a:r>
            <a:r>
              <a:rPr lang="en-IN" sz="4000" b="1" dirty="0">
                <a:solidFill>
                  <a:schemeClr val="bg1"/>
                </a:solidFill>
              </a:rPr>
              <a:t>how much Y changes when X changes</a:t>
            </a:r>
            <a:endParaRPr lang="en-IN" sz="4000" dirty="0">
              <a:solidFill>
                <a:schemeClr val="bg1"/>
              </a:solidFill>
            </a:endParaRPr>
          </a:p>
          <a:p>
            <a:pPr lvl="0"/>
            <a:r>
              <a:rPr lang="en-IN" sz="4000" dirty="0">
                <a:solidFill>
                  <a:schemeClr val="bg1"/>
                </a:solidFill>
              </a:rPr>
              <a:t>Unlike classification, regression predicts </a:t>
            </a:r>
            <a:r>
              <a:rPr lang="en-IN" sz="4000" b="1" dirty="0">
                <a:solidFill>
                  <a:schemeClr val="bg1"/>
                </a:solidFill>
              </a:rPr>
              <a:t>continuous values</a:t>
            </a:r>
            <a:endParaRPr lang="en-IN" sz="4000" dirty="0">
              <a:solidFill>
                <a:schemeClr val="bg1"/>
              </a:solidFill>
            </a:endParaRPr>
          </a:p>
          <a:p>
            <a:r>
              <a:rPr lang="en-IN" sz="4000" i="1" dirty="0">
                <a:solidFill>
                  <a:schemeClr val="bg1"/>
                </a:solidFill>
              </a:rPr>
              <a:t>Regression is about trends, not exact predictions</a:t>
            </a:r>
            <a:r>
              <a:rPr lang="en-IN" sz="4000" dirty="0">
                <a:solidFill>
                  <a:schemeClr val="bg1"/>
                </a:solidFill>
              </a:rPr>
              <a:t> </a:t>
            </a:r>
            <a:endParaRPr lang="en-US" sz="4000" dirty="0">
              <a:solidFill>
                <a:schemeClr val="bg1"/>
              </a:solidFill>
            </a:endParaRP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536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6CE2-3C12-A667-EBCE-C2B53174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05B128-CE05-AD24-4998-FD29B568EC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2312600"/>
              </p:ext>
            </p:extLst>
          </p:nvPr>
        </p:nvGraphicFramePr>
        <p:xfrm>
          <a:off x="382772" y="705485"/>
          <a:ext cx="11809228" cy="845248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858637">
                  <a:extLst>
                    <a:ext uri="{9D8B030D-6E8A-4147-A177-3AD203B41FA5}">
                      <a16:colId xmlns:a16="http://schemas.microsoft.com/office/drawing/2014/main" val="4104477256"/>
                    </a:ext>
                  </a:extLst>
                </a:gridCol>
                <a:gridCol w="4014182">
                  <a:extLst>
                    <a:ext uri="{9D8B030D-6E8A-4147-A177-3AD203B41FA5}">
                      <a16:colId xmlns:a16="http://schemas.microsoft.com/office/drawing/2014/main" val="1139254514"/>
                    </a:ext>
                  </a:extLst>
                </a:gridCol>
                <a:gridCol w="3936409">
                  <a:extLst>
                    <a:ext uri="{9D8B030D-6E8A-4147-A177-3AD203B41FA5}">
                      <a16:colId xmlns:a16="http://schemas.microsoft.com/office/drawing/2014/main" val="158771133"/>
                    </a:ext>
                  </a:extLst>
                </a:gridCol>
              </a:tblGrid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Weight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height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age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8762750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42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160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26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1025273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69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195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0411642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63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151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689599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69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187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39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9122381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81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182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39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632713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175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39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8194031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86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195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1571447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74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191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34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3661245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88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181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40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2203522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155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34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2196525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42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164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22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503057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165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3577094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89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166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28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7920553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46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153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3665744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65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174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33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4132389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>
                          <a:solidFill>
                            <a:schemeClr val="bg1"/>
                          </a:solidFill>
                          <a:effectLst/>
                        </a:rPr>
                        <a:t>148</a:t>
                      </a:r>
                      <a:endParaRPr lang="en-IN" sz="3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  <a:endParaRPr lang="en-IN" sz="3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764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453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07AF-C543-623B-C950-61624790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771" y="351270"/>
            <a:ext cx="10900229" cy="132556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Why Regression Is Important</a:t>
            </a:r>
            <a:br>
              <a:rPr lang="en-IN" sz="6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6000" b="1" dirty="0">
              <a:solidFill>
                <a:schemeClr val="bg2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4F6E408-4D07-9026-080D-06EDF920C9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1771" y="1937137"/>
            <a:ext cx="10515600" cy="4351338"/>
          </a:xfrm>
          <a:solidFill>
            <a:srgbClr val="7030A0"/>
          </a:solidFill>
        </p:spPr>
        <p:txBody>
          <a:bodyPr>
            <a:normAutofit/>
          </a:bodyPr>
          <a:lstStyle/>
          <a:p>
            <a:pPr lvl="0"/>
            <a:r>
              <a:rPr lang="en-IN" sz="4000" dirty="0">
                <a:solidFill>
                  <a:schemeClr val="bg1"/>
                </a:solidFill>
              </a:rPr>
              <a:t>Helps in prediction, estimation, and decision-making</a:t>
            </a:r>
          </a:p>
          <a:p>
            <a:pPr lvl="0"/>
            <a:r>
              <a:rPr lang="en-IN" sz="4000" dirty="0">
                <a:solidFill>
                  <a:schemeClr val="bg1"/>
                </a:solidFill>
              </a:rPr>
              <a:t>Widely used in economics, management, engineering, health, and ML</a:t>
            </a:r>
          </a:p>
          <a:p>
            <a:r>
              <a:rPr lang="en-IN" sz="4000" dirty="0">
                <a:solidFill>
                  <a:schemeClr val="bg1"/>
                </a:solidFill>
              </a:rPr>
              <a:t>Forms the foundation of many advanced ML algorithms 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4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07AF-C543-623B-C950-61624790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09" y="365125"/>
            <a:ext cx="11901055" cy="132556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IN" sz="6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       Types of Regression</a:t>
            </a:r>
            <a:br>
              <a:rPr lang="en-IN" sz="6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6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97891-3051-7FBA-0527-8ED7965F3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1825625"/>
            <a:ext cx="11333019" cy="4351338"/>
          </a:xfrm>
          <a:solidFill>
            <a:srgbClr val="7030A0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  <a:p>
            <a:r>
              <a:rPr lang="en-IN" sz="4000" dirty="0">
                <a:solidFill>
                  <a:schemeClr val="bg1"/>
                </a:solidFill>
              </a:rPr>
              <a:t>Simple Linear Regression → one input, one output</a:t>
            </a:r>
          </a:p>
          <a:p>
            <a:r>
              <a:rPr lang="en-IN" sz="4000" dirty="0">
                <a:solidFill>
                  <a:schemeClr val="bg1"/>
                </a:solidFill>
              </a:rPr>
              <a:t>Multiple Linear Regression → multiple inputs</a:t>
            </a:r>
          </a:p>
          <a:p>
            <a:pPr lvl="0"/>
            <a:r>
              <a:rPr lang="en-IN" sz="4000" dirty="0">
                <a:solidFill>
                  <a:schemeClr val="bg1"/>
                </a:solidFill>
              </a:rPr>
              <a:t>Polynomial Regression → captures non-linear patterns</a:t>
            </a:r>
          </a:p>
          <a:p>
            <a:pPr lvl="0"/>
            <a:r>
              <a:rPr lang="en-IN" sz="4000" dirty="0">
                <a:solidFill>
                  <a:schemeClr val="bg1"/>
                </a:solidFill>
              </a:rPr>
              <a:t>Logistic Regression → classification (despite the name)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EABAEF-FFD1-3683-C349-5CC312DE1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optimized RAG framework for domain-specific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scalable, efficient, and adaptable system for accurate and contextually relevant responses. </a:t>
            </a:r>
          </a:p>
        </p:txBody>
      </p:sp>
    </p:spTree>
    <p:extLst>
      <p:ext uri="{BB962C8B-B14F-4D97-AF65-F5344CB8AC3E}">
        <p14:creationId xmlns:p14="http://schemas.microsoft.com/office/powerpoint/2010/main" val="31962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07AF-C543-623B-C950-61624790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429" y="365125"/>
            <a:ext cx="11248571" cy="132556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IN" sz="6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Regression Equation (Core Concept)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3B8F0-4BCA-C76A-54A5-E0C942FA3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9AD9973-63AA-075A-1330-CF3CC12B6529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A969BB-53BB-3322-29C5-D2A45261D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20" y="2515246"/>
            <a:ext cx="11688057" cy="271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26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D524-5B3D-4712-ECAA-539F28966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086" y="365125"/>
            <a:ext cx="1025071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.</a:t>
            </a:r>
            <a:r>
              <a:rPr lang="en-IN" b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Assumptions of Linear Regression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1E8BF-C60F-865C-6309-9F8F5ACE4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472" y="1246909"/>
            <a:ext cx="7017327" cy="4930054"/>
          </a:xfrm>
          <a:solidFill>
            <a:srgbClr val="7030A0"/>
          </a:solidFill>
        </p:spPr>
        <p:txBody>
          <a:bodyPr>
            <a:normAutofit/>
          </a:bodyPr>
          <a:lstStyle/>
          <a:p>
            <a:pPr lvl="0"/>
            <a:r>
              <a:rPr lang="en-IN" sz="3600" dirty="0">
                <a:solidFill>
                  <a:schemeClr val="bg1"/>
                </a:solidFill>
              </a:rPr>
              <a:t>Linearity</a:t>
            </a:r>
          </a:p>
          <a:p>
            <a:pPr lvl="0"/>
            <a:r>
              <a:rPr lang="en-IN" sz="3600" dirty="0">
                <a:solidFill>
                  <a:schemeClr val="bg1"/>
                </a:solidFill>
              </a:rPr>
              <a:t>Independence of errors</a:t>
            </a:r>
          </a:p>
          <a:p>
            <a:pPr lvl="0"/>
            <a:r>
              <a:rPr lang="en-IN" sz="3600" dirty="0">
                <a:solidFill>
                  <a:schemeClr val="bg1"/>
                </a:solidFill>
              </a:rPr>
              <a:t>constant variance</a:t>
            </a:r>
          </a:p>
          <a:p>
            <a:pPr lvl="0"/>
            <a:r>
              <a:rPr lang="en-IN" sz="3600" dirty="0">
                <a:solidFill>
                  <a:schemeClr val="bg1"/>
                </a:solidFill>
              </a:rPr>
              <a:t>Normality of residuals</a:t>
            </a:r>
          </a:p>
          <a:p>
            <a:pPr lvl="0"/>
            <a:r>
              <a:rPr lang="en-IN" sz="3600" dirty="0">
                <a:solidFill>
                  <a:schemeClr val="bg1"/>
                </a:solidFill>
              </a:rPr>
              <a:t>No multicollinearity (for multiple regression)</a:t>
            </a:r>
          </a:p>
          <a:p>
            <a:r>
              <a:rPr lang="en-IN" sz="3600" i="1" dirty="0">
                <a:solidFill>
                  <a:schemeClr val="bg1"/>
                </a:solidFill>
              </a:rPr>
              <a:t>If assumptions fail, results become unreliable.</a:t>
            </a:r>
            <a:endParaRPr lang="en-IN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3600" dirty="0"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048628-D09F-81E4-7D68-518568D31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35876" y="0"/>
            <a:ext cx="1856124" cy="183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09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25091" y="-1600"/>
            <a:ext cx="8866909" cy="1287460"/>
          </a:xfrm>
          <a:solidFill>
            <a:srgbClr val="7030A0"/>
          </a:solidFill>
        </p:spPr>
        <p:txBody>
          <a:bodyPr/>
          <a:lstStyle/>
          <a:p>
            <a:pPr marL="0" indent="0">
              <a:buNone/>
            </a:pPr>
            <a:r>
              <a:rPr lang="en-IN" sz="6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How regression Learn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3409798-DAC3-EA87-B407-F95B733F07A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4400" dirty="0">
                <a:solidFill>
                  <a:schemeClr val="bg1"/>
                </a:solidFill>
              </a:rPr>
              <a:t>Minimizes </a:t>
            </a:r>
            <a:r>
              <a:rPr lang="en-IN" sz="4400" b="1" dirty="0">
                <a:solidFill>
                  <a:schemeClr val="bg1"/>
                </a:solidFill>
              </a:rPr>
              <a:t>error between actual and predicted values</a:t>
            </a:r>
            <a:endParaRPr lang="en-IN" sz="4400" dirty="0">
              <a:solidFill>
                <a:schemeClr val="bg1"/>
              </a:solidFill>
            </a:endParaRPr>
          </a:p>
          <a:p>
            <a:pPr lvl="0"/>
            <a:r>
              <a:rPr lang="en-IN" sz="4400" dirty="0">
                <a:solidFill>
                  <a:schemeClr val="bg1"/>
                </a:solidFill>
              </a:rPr>
              <a:t>Uses </a:t>
            </a:r>
            <a:r>
              <a:rPr lang="en-IN" sz="4400" b="1" dirty="0">
                <a:solidFill>
                  <a:schemeClr val="bg1"/>
                </a:solidFill>
              </a:rPr>
              <a:t>Least Squares Method</a:t>
            </a:r>
            <a:endParaRPr lang="en-IN" sz="4400" dirty="0">
              <a:solidFill>
                <a:schemeClr val="bg1"/>
              </a:solidFill>
            </a:endParaRPr>
          </a:p>
          <a:p>
            <a:pPr lvl="0"/>
            <a:r>
              <a:rPr lang="en-IN" sz="4400" dirty="0">
                <a:solidFill>
                  <a:schemeClr val="bg1"/>
                </a:solidFill>
              </a:rPr>
              <a:t>Best-fit line minimizes total squared error</a:t>
            </a:r>
          </a:p>
          <a:p>
            <a:pPr marL="0" indent="0">
              <a:buNone/>
            </a:pPr>
            <a:r>
              <a:rPr lang="en-IN" sz="6000" dirty="0">
                <a:solidFill>
                  <a:schemeClr val="bg1"/>
                </a:solidFill>
              </a:rPr>
              <a:t> </a:t>
            </a:r>
            <a:endParaRPr lang="en-US" sz="6000" dirty="0">
              <a:solidFill>
                <a:schemeClr val="bg1"/>
              </a:solidFill>
            </a:endParaRP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58C8-BAB6-84C6-CBB0-97C6FEBEC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828" y="20016"/>
            <a:ext cx="6828971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Model Evaluation Metrics</a:t>
            </a: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1339D232-163F-97C7-8773-CCDA507FEC8A}"/>
              </a:ext>
            </a:extLst>
          </p:cNvPr>
          <p:cNvSpPr/>
          <p:nvPr/>
        </p:nvSpPr>
        <p:spPr>
          <a:xfrm>
            <a:off x="5917372" y="2390728"/>
            <a:ext cx="231071" cy="3570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F607F3-60D4-16D4-5445-0012DFE923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solidFill>
            <a:srgbClr val="7030A0"/>
          </a:solidFill>
        </p:spPr>
        <p:txBody>
          <a:bodyPr>
            <a:normAutofit/>
          </a:bodyPr>
          <a:lstStyle/>
          <a:p>
            <a:pPr lvl="0"/>
            <a:r>
              <a:rPr lang="en-IN" sz="4000" b="1" dirty="0">
                <a:solidFill>
                  <a:schemeClr val="bg1"/>
                </a:solidFill>
              </a:rPr>
              <a:t>MSE / RMSE</a:t>
            </a:r>
            <a:r>
              <a:rPr lang="en-IN" sz="4000" dirty="0">
                <a:solidFill>
                  <a:schemeClr val="bg1"/>
                </a:solidFill>
              </a:rPr>
              <a:t> → magnitude of error</a:t>
            </a:r>
          </a:p>
          <a:p>
            <a:pPr lvl="0"/>
            <a:r>
              <a:rPr lang="en-IN" sz="4000" b="1" dirty="0">
                <a:solidFill>
                  <a:schemeClr val="bg1"/>
                </a:solidFill>
              </a:rPr>
              <a:t>MAE</a:t>
            </a:r>
            <a:r>
              <a:rPr lang="en-IN" sz="4000" dirty="0">
                <a:solidFill>
                  <a:schemeClr val="bg1"/>
                </a:solidFill>
              </a:rPr>
              <a:t> → average absolute error</a:t>
            </a:r>
          </a:p>
          <a:p>
            <a:pPr lvl="0"/>
            <a:r>
              <a:rPr lang="en-IN" sz="4000" b="1" dirty="0">
                <a:solidFill>
                  <a:schemeClr val="bg1"/>
                </a:solidFill>
              </a:rPr>
              <a:t>R²</a:t>
            </a:r>
            <a:r>
              <a:rPr lang="en-IN" sz="4000" dirty="0">
                <a:solidFill>
                  <a:schemeClr val="bg1"/>
                </a:solidFill>
              </a:rPr>
              <a:t> → explanatory power of the model</a:t>
            </a:r>
          </a:p>
          <a:p>
            <a:pPr lvl="0"/>
            <a:r>
              <a:rPr lang="en-IN" sz="4000" b="1" dirty="0">
                <a:solidFill>
                  <a:schemeClr val="bg1"/>
                </a:solidFill>
              </a:rPr>
              <a:t>Adjusted R²</a:t>
            </a:r>
            <a:r>
              <a:rPr lang="en-IN" sz="4000" dirty="0">
                <a:solidFill>
                  <a:schemeClr val="bg1"/>
                </a:solidFill>
              </a:rPr>
              <a:t> → penalizes unnecessary variables</a:t>
            </a:r>
          </a:p>
          <a:p>
            <a:r>
              <a:rPr lang="en-IN" sz="4000" i="1" dirty="0">
                <a:solidFill>
                  <a:schemeClr val="bg1"/>
                </a:solidFill>
              </a:rPr>
              <a:t>High R² does not </a:t>
            </a:r>
            <a:r>
              <a:rPr lang="en-IN" sz="3600" i="1" dirty="0">
                <a:solidFill>
                  <a:schemeClr val="bg1"/>
                </a:solidFill>
              </a:rPr>
              <a:t>guarantee good predictions.</a:t>
            </a:r>
            <a:endParaRPr lang="en-IN" sz="3600" dirty="0">
              <a:solidFill>
                <a:schemeClr val="bg1"/>
              </a:solidFill>
            </a:endParaRP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34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3FA48-B80B-08BB-44C4-03B36FC3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BBB9-BBCF-1D2C-3464-F3D5FDB0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828" y="20016"/>
            <a:ext cx="6828971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Limitations of Regression</a:t>
            </a: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40682970-1309-C7EF-931D-45F2FB224C77}"/>
              </a:ext>
            </a:extLst>
          </p:cNvPr>
          <p:cNvSpPr/>
          <p:nvPr/>
        </p:nvSpPr>
        <p:spPr>
          <a:xfrm>
            <a:off x="5917372" y="2390728"/>
            <a:ext cx="231071" cy="3570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620976-3834-ED2E-5AEB-396DA39CDC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solidFill>
            <a:srgbClr val="7030A0"/>
          </a:solidFill>
        </p:spPr>
        <p:txBody>
          <a:bodyPr>
            <a:normAutofit/>
          </a:bodyPr>
          <a:lstStyle/>
          <a:p>
            <a:pPr lvl="0"/>
            <a:r>
              <a:rPr lang="en-IN" sz="4000" dirty="0">
                <a:solidFill>
                  <a:schemeClr val="bg1"/>
                </a:solidFill>
              </a:rPr>
              <a:t>Sensitive to </a:t>
            </a:r>
            <a:r>
              <a:rPr lang="en-IN" sz="4000" b="1" dirty="0">
                <a:solidFill>
                  <a:schemeClr val="bg1"/>
                </a:solidFill>
              </a:rPr>
              <a:t>outliers</a:t>
            </a:r>
            <a:endParaRPr lang="en-IN" sz="4000" dirty="0">
              <a:solidFill>
                <a:schemeClr val="bg1"/>
              </a:solidFill>
            </a:endParaRPr>
          </a:p>
          <a:p>
            <a:pPr lvl="0"/>
            <a:r>
              <a:rPr lang="en-IN" sz="4000" dirty="0">
                <a:solidFill>
                  <a:schemeClr val="bg1"/>
                </a:solidFill>
              </a:rPr>
              <a:t>Assumes linearity (basic models)</a:t>
            </a:r>
          </a:p>
          <a:p>
            <a:pPr lvl="0"/>
            <a:r>
              <a:rPr lang="en-IN" sz="4000" dirty="0">
                <a:solidFill>
                  <a:schemeClr val="bg1"/>
                </a:solidFill>
              </a:rPr>
              <a:t>Poor performance with highly complex relationships</a:t>
            </a:r>
          </a:p>
          <a:p>
            <a:r>
              <a:rPr lang="en-IN" sz="4000" i="1" dirty="0">
                <a:solidFill>
                  <a:schemeClr val="bg1"/>
                </a:solidFill>
              </a:rPr>
              <a:t>Regression explains association, not cause</a:t>
            </a:r>
            <a:r>
              <a:rPr lang="en-IN" sz="4800" dirty="0">
                <a:solidFill>
                  <a:schemeClr val="bg1"/>
                </a:solidFill>
              </a:rPr>
              <a:t> </a:t>
            </a:r>
            <a:endParaRPr lang="en-US" sz="4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05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92FE8-F92B-A78D-F04A-D5619AA8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4623-B483-1841-8318-723C59BF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828" y="20016"/>
            <a:ext cx="6828971" cy="114300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Regression vs Other ML </a:t>
            </a:r>
            <a:r>
              <a:rPr lang="en-IN" sz="4000" dirty="0">
                <a:solidFill>
                  <a:schemeClr val="bg1"/>
                </a:solidFill>
              </a:rPr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AEC7B-9C7B-413E-26A6-3C340C4C8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EA53A82E-434C-57E0-60B0-1EEA1298DCBA}"/>
              </a:ext>
            </a:extLst>
          </p:cNvPr>
          <p:cNvSpPr/>
          <p:nvPr/>
        </p:nvSpPr>
        <p:spPr>
          <a:xfrm>
            <a:off x="5917372" y="2390728"/>
            <a:ext cx="231071" cy="3570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D75985-977A-BF87-8452-CB0B75F06C70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561442"/>
            <a:ext cx="10668000" cy="4879704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4800" dirty="0">
                <a:solidFill>
                  <a:schemeClr val="bg1"/>
                </a:solidFill>
              </a:rPr>
              <a:t>Simple and fast</a:t>
            </a:r>
          </a:p>
          <a:p>
            <a:pPr lvl="0"/>
            <a:r>
              <a:rPr lang="en-IN" sz="4800" dirty="0">
                <a:solidFill>
                  <a:schemeClr val="bg1"/>
                </a:solidFill>
              </a:rPr>
              <a:t>Works well with small datasets</a:t>
            </a:r>
          </a:p>
          <a:p>
            <a:pPr lvl="0"/>
            <a:r>
              <a:rPr lang="en-IN" sz="4800" dirty="0">
                <a:solidFill>
                  <a:schemeClr val="bg1"/>
                </a:solidFill>
              </a:rPr>
              <a:t>Serves as a </a:t>
            </a:r>
            <a:r>
              <a:rPr lang="en-IN" sz="4800" b="1" dirty="0">
                <a:solidFill>
                  <a:schemeClr val="bg1"/>
                </a:solidFill>
              </a:rPr>
              <a:t>baseline model</a:t>
            </a:r>
            <a:endParaRPr lang="en-IN" sz="4800" dirty="0">
              <a:solidFill>
                <a:schemeClr val="bg1"/>
              </a:solidFill>
            </a:endParaRPr>
          </a:p>
          <a:p>
            <a:pPr lvl="0"/>
            <a:r>
              <a:rPr lang="en-IN" sz="4800" dirty="0">
                <a:solidFill>
                  <a:schemeClr val="bg1"/>
                </a:solidFill>
              </a:rPr>
              <a:t>Advanced models are often compared against regression</a:t>
            </a:r>
          </a:p>
        </p:txBody>
      </p:sp>
    </p:spTree>
    <p:extLst>
      <p:ext uri="{BB962C8B-B14F-4D97-AF65-F5344CB8AC3E}">
        <p14:creationId xmlns:p14="http://schemas.microsoft.com/office/powerpoint/2010/main" val="349826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AF74-9A91-9E89-03B5-6218C6520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A3675-5144-FF3E-374F-79954825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828" y="20016"/>
            <a:ext cx="6828971" cy="1143000"/>
          </a:xfrm>
        </p:spPr>
        <p:txBody>
          <a:bodyPr>
            <a:normAutofit/>
          </a:bodyPr>
          <a:lstStyle/>
          <a:p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6935-A48B-DE75-97CF-0DD2A1726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9362835A-F69D-AD68-B631-765BC1C0FFDD}"/>
              </a:ext>
            </a:extLst>
          </p:cNvPr>
          <p:cNvSpPr/>
          <p:nvPr/>
        </p:nvSpPr>
        <p:spPr>
          <a:xfrm>
            <a:off x="5917372" y="2390728"/>
            <a:ext cx="231071" cy="3570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pic>
        <p:nvPicPr>
          <p:cNvPr id="10242" name="Picture 2" descr="Thank You PowerPoint Slide Template - SlideKit">
            <a:extLst>
              <a:ext uri="{FF2B5EF4-FFF2-40B4-BE49-F238E27FC236}">
                <a16:creationId xmlns:a16="http://schemas.microsoft.com/office/drawing/2014/main" id="{F6CC7A7E-6AAB-CDDD-C2C2-364C11C15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546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{731A3338-1756-DA44-874E-06F2FBFC2AA1}tf10001067_mac</Template>
  <TotalTime>1505</TotalTime>
  <Words>425</Words>
  <Application>Microsoft Macintosh PowerPoint</Application>
  <PresentationFormat>Widescreen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-webkit-standard</vt:lpstr>
      <vt:lpstr>Arial</vt:lpstr>
      <vt:lpstr>Bookman Old Style</vt:lpstr>
      <vt:lpstr>Calibri</vt:lpstr>
      <vt:lpstr>Calibri Light</vt:lpstr>
      <vt:lpstr>Times New Roman</vt:lpstr>
      <vt:lpstr>Office Theme</vt:lpstr>
      <vt:lpstr>        Webinar-01          Logic to Learning: Understanding Gates and Regression   Presented by   DR. GOURAV KALRA AND MR ROHIT SRIRAM  </vt:lpstr>
      <vt:lpstr>                             CONTENTS</vt:lpstr>
      <vt:lpstr>What Regression Really Does</vt:lpstr>
      <vt:lpstr>PowerPoint Presentation</vt:lpstr>
      <vt:lpstr>Why Regression Is Important </vt:lpstr>
      <vt:lpstr>                Types of Regression </vt:lpstr>
      <vt:lpstr>Regression Equation (Core Concept)</vt:lpstr>
      <vt:lpstr>. Assumptions of Linear Regression  </vt:lpstr>
      <vt:lpstr>PowerPoint Presentation</vt:lpstr>
      <vt:lpstr>Model Evaluation Metrics</vt:lpstr>
      <vt:lpstr>Limitations of Regression</vt:lpstr>
      <vt:lpstr>Regression vs Other ML Models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Mtech Abstract Evaluation         Leveraging Generative AI for Enhanced Student and Visitor  Query Resolution in University  Presented by   GOURAV KALRA   Under Supervision of    Dr. Arun Kumar Gupta</dc:title>
  <dc:creator>GOURAV KALRA</dc:creator>
  <cp:lastModifiedBy>GOURAV KALRA</cp:lastModifiedBy>
  <cp:revision>11</cp:revision>
  <dcterms:created xsi:type="dcterms:W3CDTF">2024-12-23T05:18:40Z</dcterms:created>
  <dcterms:modified xsi:type="dcterms:W3CDTF">2026-02-03T13:39:06Z</dcterms:modified>
</cp:coreProperties>
</file>